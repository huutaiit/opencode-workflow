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EC9F0"/>
                </a:solidFill>
                <a:latin typeface="Segoe UI"/>
              </a:defRPr>
            </a:pPr>
            <a:r>
              <a:t>EPS Developer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CC"/>
                </a:solidFill>
                <a:latin typeface="Segoe UI"/>
              </a:defRPr>
            </a:pPr>
            <a:r>
              <a:t>Quy trình chuẩn generate code cho tính năng mới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Segoe UI"/>
              </a:defRPr>
            </a:pPr>
            <a:r>
              <a:t>Mục tiêu: Mọi dev chạy cùng workflow → Kết quả tương tự nhau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572000"/>
            <a:ext cx="2377440" cy="10972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Segoe UI"/>
              </a:defRPr>
            </a:pPr>
            <a:r>
              <a:t>6 Bước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5029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Copy prompt → Thay biến → Chạy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572000"/>
            <a:ext cx="2377440" cy="10972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Segoe UI"/>
              </a:defRPr>
            </a:pPr>
            <a:r>
              <a:t>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029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Prompt chuẩn hóa cho mỗi bước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572000"/>
            <a:ext cx="2377440" cy="10972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Segoe UI"/>
              </a:defRPr>
            </a:pPr>
            <a:r>
              <a:t>Kết quả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029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Output nhất quán giữa các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Segoe UI"/>
              </a:defRPr>
            </a:pPr>
            <a:r>
              <a:t>HIMS Project | GTEL ICT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F0"/>
                </a:solidFill>
                <a:latin typeface="Segoe UI"/>
              </a:defRPr>
            </a:pPr>
            <a:r>
              <a:t>Workflow Overview — 6 Bước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783080" cy="5029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Segoe UI"/>
              </a:defRPr>
            </a:pPr>
            <a:r>
              <a:t>Bước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Đọc tài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Segoe UI"/>
              </a:defRPr>
            </a:pPr>
            <a:r>
              <a:t>Thủ công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Export Confluent HTML</a:t>
            </a:r>
            <a:br/>
            <a:r>
              <a:t>→ lưu docs/</a:t>
            </a:r>
            <a:br/>
            <a:r>
              <a:t>Chụp Figma</a:t>
            </a:r>
            <a:br/>
            <a:r>
              <a:t>→ lưu screenshot_from_figma/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888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188720"/>
            <a:ext cx="1783080" cy="5029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280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F0"/>
                </a:solidFill>
                <a:latin typeface="Segoe UI"/>
              </a:defRPr>
            </a:pPr>
            <a:r>
              <a:t>Bước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/research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Segoe UI"/>
              </a:defRPr>
            </a:pPr>
            <a:r>
              <a:t>Tự động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56032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Phân tích evidence</a:t>
            </a:r>
            <a:br/>
            <a:r>
              <a:t>Domain KB</a:t>
            </a:r>
            <a:br/>
            <a:r>
              <a:t>Codebase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888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188720"/>
            <a:ext cx="1783080" cy="5029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280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86FC"/>
                </a:solidFill>
                <a:latin typeface="Segoe UI"/>
              </a:defRPr>
            </a:pPr>
            <a:r>
              <a:t>Bước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/innovate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B86FC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56032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SRS decisions</a:t>
            </a:r>
            <a:br/>
            <a:r>
              <a:t>Technical decisions</a:t>
            </a:r>
            <a:br/>
            <a:r>
              <a:t>Claude + Gemini</a:t>
            </a:r>
            <a:br/>
            <a:r>
              <a:t>cross-validate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888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188720"/>
            <a:ext cx="1783080" cy="5029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280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F0"/>
                </a:solidFill>
                <a:latin typeface="Segoe UI"/>
              </a:defRPr>
            </a:pPr>
            <a:r>
              <a:t>Bước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/plan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Segoe UI"/>
              </a:defRPr>
            </a:pPr>
            <a:r>
              <a:t>Tự động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56032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Execution plan</a:t>
            </a:r>
            <a:br/>
            <a:r>
              <a:t>Auto: plan-review</a:t>
            </a:r>
            <a:br/>
            <a:r>
              <a:t>Auto: plan-optimize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888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188720"/>
            <a:ext cx="1783080" cy="5029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1280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Segoe UI"/>
              </a:defRPr>
            </a:pPr>
            <a:r>
              <a:t>Bước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/execute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Segoe UI"/>
              </a:defRPr>
            </a:pPr>
            <a:r>
              <a:t>Tự động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256032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Generate code</a:t>
            </a:r>
            <a:br/>
            <a:r>
              <a:t>Step-by-step</a:t>
            </a:r>
            <a:br/>
            <a:r>
              <a:t>Checkpoint mỗi 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88899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1188720"/>
            <a:ext cx="1783080" cy="5029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1280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Segoe UI"/>
              </a:defRPr>
            </a:pPr>
            <a:r>
              <a:t>Bước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/validate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103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Segoe UI"/>
              </a:defRPr>
            </a:pPr>
            <a:r>
              <a:t>Tự động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2560320"/>
            <a:ext cx="1508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4-pass validation</a:t>
            </a:r>
            <a:br/>
            <a:r>
              <a:t>≥90% = PASS</a:t>
            </a:r>
            <a:br/>
            <a:r>
              <a:t>Auto-chain từ /execute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Lưu ý: /save bất kỳ lúc nào để backup progress. Resume = đọc checkpoint + chạy lại command.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39C12"/>
                </a:solidFill>
                <a:latin typeface="Segoe UI"/>
              </a:defRPr>
            </a:pPr>
            <a:r>
              <a:t>Bước 0: Thu thập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Segoe UI"/>
              </a:defRPr>
            </a:pPr>
            <a:r>
              <a:t>2 nguồn input: Confluent HTML exports (docs/) + Figma screenshots (screenshot_from_figma/)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4114800" cy="21031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F39C12"/>
                </a:solidFill>
                <a:latin typeface="Segoe UI"/>
              </a:defRPr>
            </a:pPr>
            <a:r>
              <a:t>CHUẨN BỊ (thủ công, trước khi gọi Claude)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1. Export Confluent → HTML → lưu docs/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t>   docs/04. Tài liệu SRS/.../*.html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2. Chụp screenshot Figma → lưu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t>   screenshot_from_figma/[Tên TN]/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t>   vd: Duyệt Ekip.png, DS duyệt ekip.png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371600"/>
            <a:ext cx="7132320" cy="5029200"/>
          </a:xfrm>
          <a:prstGeom prst="round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417320"/>
            <a:ext cx="6766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Consolas"/>
              </a:defRPr>
            </a:pPr>
            <a:r>
              <a:t>PROMPT TEMPLATE — COPY &amp; PASTE:</a:t>
            </a:r>
            <a:br/>
            <a:br/>
            <a:r>
              <a:t>Tôi cần implement tính năng [TÊN TÍNH NĂNG] trong module [MODULE].</a:t>
            </a:r>
            <a:br/>
            <a:br/>
            <a:r>
              <a:t>Nguồn 1 — Tài liệu Confluent (đã export HTML):</a:t>
            </a:r>
            <a:br/>
            <a:r>
              <a:t>Đọc các file .html liên quan trong:</a:t>
            </a:r>
            <a:br/>
            <a:r>
              <a:t>- docs/04. Tài liệu SRS/ → tìm file về [TÊN TÍNH NĂNG]</a:t>
            </a:r>
            <a:br/>
            <a:r>
              <a:t>- docs/03. Tài liệu BRD/ → tìm quy trình liên quan</a:t>
            </a:r>
            <a:br/>
            <a:r>
              <a:t>Đọc cả tài liệu prerequisite: [TÍNH NĂNG LIÊN QUAN]</a:t>
            </a:r>
            <a:br/>
            <a:br/>
            <a:r>
              <a:t>Nguồn 2 — Screenshot Figma:</a:t>
            </a:r>
            <a:br/>
            <a:r>
              <a:t>Xem các file ảnh trong screenshot_from_figma/[Tên TN]/</a:t>
            </a:r>
            <a:br/>
            <a:r>
              <a:t>Trích xuất: layout, components, fields, buttons, trạng thái</a:t>
            </a:r>
            <a:br/>
            <a:br/>
            <a:r>
              <a:t>Trích xuất &amp; tổng hợp:</a:t>
            </a:r>
            <a:br/>
            <a:r>
              <a:t>- Business rules &amp; workflow</a:t>
            </a:r>
            <a:br/>
            <a:r>
              <a:t>- Data model / fields</a:t>
            </a:r>
            <a:br/>
            <a:r>
              <a:t>- UI specs (từ Figma + Confluent HTML)</a:t>
            </a:r>
            <a:br/>
            <a:r>
              <a:t>- Pre/post-conditions, API tích hợp, common controls</a:t>
            </a:r>
            <a:br/>
            <a:br/>
            <a:r>
              <a:t>Lưu vào documents/research/[feature-name]/confluent-research.md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39C12"/>
                </a:solidFill>
                <a:latin typeface="Segoe UI"/>
              </a:defRPr>
            </a:pPr>
            <a:r>
              <a:t>Biến cần thay: [TÊN TÍNH NĂNG]  [MODULE]  [TÍNH NĂNG LIÊN QUAN]  [Tên TN]  [feature-name]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39C12"/>
                </a:solidFill>
                <a:latin typeface="Segoe UI"/>
              </a:defRPr>
            </a:pPr>
            <a:r>
              <a:t>Bước 0: Ví dụ — Duyệt Ekip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4114800" cy="2743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39C12"/>
                </a:solidFill>
                <a:latin typeface="Segoe UI"/>
              </a:defRPr>
            </a:pPr>
            <a:r>
              <a:t>ĐÃ CHUẨN BỊ: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docs/04. Tài liệu SRS/.../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ECC71"/>
                </a:solidFill>
                <a:latin typeface="Segoe UI"/>
              </a:defRPr>
            </a:pPr>
            <a:r>
              <a:t>  FC.DUYETEKIP.html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ECC71"/>
                </a:solidFill>
                <a:latin typeface="Segoe UI"/>
              </a:defRPr>
            </a:pPr>
            <a:r>
              <a:t>  MD.DEK.html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ECC71"/>
                </a:solidFill>
                <a:latin typeface="Segoe UI"/>
              </a:defRPr>
            </a:pPr>
            <a:r>
              <a:t>  MD.CHPCPTTT.html (prerequisite)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ECC71"/>
                </a:solidFill>
                <a:latin typeface="Segoe UI"/>
              </a:defRPr>
            </a:pPr>
            <a:r>
              <a:t>  FC.TTPT.html (prerequisite)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screenshot_from_figma/Duyệt Ekip/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ECC71"/>
                </a:solidFill>
                <a:latin typeface="Segoe UI"/>
              </a:defRPr>
            </a:pPr>
            <a:r>
              <a:t>  Danh sách duyệt ekip.png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ECC71"/>
                </a:solidFill>
                <a:latin typeface="Segoe UI"/>
              </a:defRPr>
            </a:pPr>
            <a:r>
              <a:t>  Duyệt Ekip.png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05840"/>
            <a:ext cx="7132320" cy="5120640"/>
          </a:xfrm>
          <a:prstGeom prst="round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05156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PROMPT GỌI CLAUDE:</a:t>
            </a:r>
            <a:br/>
            <a:br/>
            <a:r>
              <a:t>Tôi cần implement tính năng Duyệt Ekip trong module PTTT.</a:t>
            </a:r>
            <a:br/>
            <a:br/>
            <a:r>
              <a:t>Nguồn 1 — Tài liệu Confluent (đã export HTML):</a:t>
            </a:r>
            <a:br/>
            <a:r>
              <a:t>Đọc các file .html trong docs/04. Tài liệu SRS/:</a:t>
            </a:r>
            <a:br/>
            <a:r>
              <a:t>- Tìm file về "Duyệt Ekip", "FC.DUYETEKIP", "MD.DEK"</a:t>
            </a:r>
            <a:br/>
            <a:r>
              <a:t>Đọc cả tài liệu prerequisite:</a:t>
            </a:r>
            <a:br/>
            <a:r>
              <a:t>- Cấu hình phụ cấp PTTT (MD.CHPCPTTT)</a:t>
            </a:r>
            <a:br/>
            <a:r>
              <a:t>- Tường trình phẫu thuật (FC.TTPT)</a:t>
            </a:r>
            <a:br/>
            <a:br/>
            <a:r>
              <a:t>Nguồn 2 — Screenshot Figma:</a:t>
            </a:r>
            <a:br/>
            <a:r>
              <a:t>Xem screenshot_from_figma/Duyệt Ekip/</a:t>
            </a:r>
            <a:br/>
            <a:r>
              <a:t>- Danh sách duyệt ekip.png → layout, filters, grid</a:t>
            </a:r>
            <a:br/>
            <a:r>
              <a:t>- Duyệt Ekip.png → buttons, trạng thái, popup</a:t>
            </a:r>
            <a:br/>
            <a:br/>
            <a:r>
              <a:t>Trích xuất &amp; tổng hợp:</a:t>
            </a:r>
            <a:br/>
            <a:r>
              <a:t>- Business rules (luồng duyệt, điều kiện, trạng thái)</a:t>
            </a:r>
            <a:br/>
            <a:r>
              <a:t>- UI specs (từ Figma + SRS): filters, columns, buttons</a:t>
            </a:r>
            <a:br/>
            <a:r>
              <a:t>- Pre-conditions: tường trình phải COMPLETED</a:t>
            </a:r>
            <a:br/>
            <a:r>
              <a:t>- API tích hợp: Phòng, Khoa, Đối tượng, Dịch vụ</a:t>
            </a:r>
            <a:br/>
            <a:r>
              <a:t>- Common controls: Combobox, Date, Checkbox</a:t>
            </a:r>
            <a:br/>
            <a:br/>
            <a:r>
              <a:t>Lưu vào documents/research/duyet-ekip/confluent-research.md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931920"/>
            <a:ext cx="4114800" cy="219456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CC71"/>
                </a:solidFill>
                <a:latin typeface="Segoe UI"/>
              </a:defRPr>
            </a:pPr>
            <a:r>
              <a:t>KẾT QUẢ: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confluent-research.md (~300 dòng)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t>  - Tổng hợp từ Confluent HTML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t>  - UI layout từ Figma screenshots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t>  - Business rules, workflow, fields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BBBCC"/>
                </a:solidFill>
                <a:latin typeface="Segoe UI"/>
              </a:defRPr>
            </a:pPr>
            <a:r>
              <a:t>  - Integration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39C12"/>
                </a:solidFill>
                <a:latin typeface="Segoe UI"/>
              </a:defRPr>
            </a:pPr>
            <a:r>
              <a:t>Tip: Càng nhiều HTML + screenshot = Claude hiểu càng chính xác, ít bị lọt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F0"/>
                </a:solidFill>
                <a:latin typeface="Segoe UI"/>
              </a:defRPr>
            </a:pPr>
            <a:r>
              <a:t>Bước 1: /research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Segoe UI"/>
              </a:defRPr>
            </a:pPr>
            <a:r>
              <a:t>Phân tích tài liệu + codebase + external references → Tạo evidence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486400" cy="2011680"/>
          </a:xfrm>
          <a:prstGeom prst="round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onsolas"/>
              </a:defRPr>
            </a:pPr>
            <a:r>
              <a:t>PROMPT TEMPLATE: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onsolas"/>
              </a:defRPr>
            </a:pPr>
            <a:r>
              <a:t>/research --input "documents/research/[feature]/confluent-research.md" \</a:t>
            </a:r>
            <a:br/>
            <a:r>
              <a:t>  --type [new|enhancement|bugfix] \</a:t>
            </a:r>
            <a:br/>
            <a:r>
              <a:t>  --module [MODULE]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2011680"/>
          </a:xfrm>
          <a:prstGeom prst="round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onsolas"/>
              </a:defRPr>
            </a:pPr>
            <a:r>
              <a:t>VÍ DỤ DUYỆT EKIP: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/research \</a:t>
            </a:r>
            <a:br/>
            <a:r>
              <a:t>  --input "documents/research/duyet-ekip/confluent-research.md" \</a:t>
            </a:r>
            <a:br/>
            <a:r>
              <a:t>  --type new --module PTTT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3657600" cy="2743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4EC9F0"/>
                </a:solidFill>
                <a:latin typeface="Segoe UI"/>
              </a:defRPr>
            </a:pPr>
            <a:r>
              <a:t>Claude tự động chạy: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Phase 1: Domain Knowledge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- Quy định (TT 50/2014...)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- Business patterns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Phase 2: Codebase Analysis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- Patterns hiện có, ADRs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Phase 3: External References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- Web search, Gemini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657600"/>
            <a:ext cx="3657600" cy="2743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749039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CC71"/>
                </a:solidFill>
                <a:latin typeface="Segoe UI"/>
              </a:defRPr>
            </a:pPr>
            <a:r>
              <a:t>Output: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evidence.md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[SCOPE:SRS] business context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[SCOPE:BD]  architecture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[SCOPE:DD]  implementation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domain-knowledge.md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Quy định, edge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657600" cy="274320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749039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BB86FC"/>
                </a:solidFill>
                <a:latin typeface="Segoe UI"/>
              </a:defRPr>
            </a:pPr>
            <a:r>
              <a:t>--type routing: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2ECC71"/>
                </a:solidFill>
                <a:latin typeface="Segoe UI"/>
              </a:defRPr>
            </a:pPr>
            <a:r>
              <a:t>new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3 phases (nghiên cứu đầy đủ)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F39C12"/>
                </a:solidFill>
                <a:latin typeface="Segoe UI"/>
              </a:defRPr>
            </a:pPr>
            <a:r>
              <a:t>enhancement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2 phases (codebase + impact)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E74C3C"/>
                </a:solidFill>
                <a:latin typeface="Segoe UI"/>
              </a:defRPr>
            </a:pPr>
            <a:r>
              <a:t>bugfix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2 phases (root cause + scan)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  <a:latin typeface="Segoe UI"/>
              </a:defRPr>
            </a:pPr>
            <a:r>
              <a:t>Bước 2: /innovate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Segoe UI"/>
              </a:defRPr>
            </a:pPr>
            <a:r>
              <a:t>Ra quyết định SRS + Technical → Review → Auto-chain design docs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200400" cy="914400"/>
          </a:xfrm>
          <a:prstGeom prst="round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onsolas"/>
              </a:defRPr>
            </a:pPr>
            <a:r>
              <a:t>/innovate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Không cần flags — tự động đọc evidence từ /research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60320"/>
            <a:ext cx="5669280" cy="38404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BB86FC"/>
                </a:solidFill>
                <a:latin typeface="Segoe UI"/>
              </a:defRPr>
            </a:pPr>
            <a:r>
              <a:t>Part 1: SRS Decisions (Nghiệp vụ)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Claude đề xuất → Bạn review → Approve/Adjust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F39C12"/>
                </a:solidFill>
                <a:latin typeface="Segoe UI"/>
              </a:defRPr>
            </a:pPr>
            <a:r>
              <a:t>VD Duyệt Ekip: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D1: 3+1 Functions (Xem DS, Duyệt, Hủy, Patient)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D2: 2-state toggle (CHO_DUYET ↔ DA_DUYET)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D3: Batch with smart skip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D4: Auto-generate on tường trình COMPLETED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D5: Grid grouped by Phòng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D6: Tính phụ cấp theo ngày thực hiện ca mổ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2ECC71"/>
                </a:solidFill>
                <a:latin typeface="Segoe UI"/>
              </a:defRPr>
            </a:pPr>
            <a:r>
              <a:t>Tip: Ghi 'dùng claude và gemini tự phản biện 5 lần'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560320"/>
            <a:ext cx="5486400" cy="38404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BB86FC"/>
                </a:solidFill>
                <a:latin typeface="Segoe UI"/>
              </a:defRPr>
            </a:pPr>
            <a:r>
              <a:t>Part 2: Technical Decisions (BD+DD)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Claude đề xuất → Bạn review → Approve/Adjust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F39C12"/>
                </a:solidFill>
                <a:latin typeface="Segoe UI"/>
              </a:defRPr>
            </a:pPr>
            <a:r>
              <a:t>VD Duyệt Ekip: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TD1: Thêm version column (optimistic lock)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TD2: Thêm audit fields (người duyệt...)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TD3: Smart skip + batch response DTO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TD4: calculatePhuCap() dùng ngày thực hiện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TD5: Native query cho search phức tạp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2ECC71"/>
                </a:solidFill>
                <a:latin typeface="Segoe UI"/>
              </a:defRPr>
            </a:pPr>
            <a:r>
              <a:t>Output: innovate-srs-selection.md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ECC71"/>
                </a:solidFill>
                <a:latin typeface="Segoe UI"/>
              </a:defRPr>
            </a:pPr>
            <a:r>
              <a:t>Output: innovate-technical-selection.md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Segoe UI"/>
              </a:defRPr>
            </a:pPr>
            <a:r>
              <a:t>Bước 3-5: /plan → /execute → /validate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Segoe UI"/>
              </a:defRPr>
            </a:pPr>
            <a:r>
              <a:t>Auto-chain: Chạy 1 lệnh → Hệ thống tự động chain các bước còn lại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657600" cy="47548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4EC9F0"/>
                </a:solidFill>
                <a:latin typeface="Segoe UI"/>
              </a:defRPr>
            </a:pPr>
            <a:r>
              <a:t>/plan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F39C12"/>
                </a:solidFill>
                <a:latin typeface="Segoe UI"/>
              </a:defRPr>
            </a:pPr>
            <a:r>
              <a:t>Command: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ECC71"/>
                </a:solidFill>
                <a:latin typeface="Segoe UI"/>
              </a:defRPr>
            </a:pPr>
            <a:r>
              <a:t>/plan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F39C12"/>
                </a:solidFill>
                <a:latin typeface="Segoe UI"/>
              </a:defRPr>
            </a:pPr>
            <a:r>
              <a:t>Auto-chain: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1. Tạo plan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2. /plan-review (tự động)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3. /plan-optimize (nếu &lt;95%)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2ECC71"/>
                </a:solidFill>
                <a:latin typeface="Segoe UI"/>
              </a:defRPr>
            </a:pPr>
            <a:r>
              <a:t>Output: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{feature}-plan.md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Phases, steps, files,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dependencies, thứ tự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657600" cy="47548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2ECC71"/>
                </a:solidFill>
                <a:latin typeface="Segoe UI"/>
              </a:defRPr>
            </a:pPr>
            <a:r>
              <a:t>/execute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F39C12"/>
                </a:solidFill>
                <a:latin typeface="Segoe UI"/>
              </a:defRPr>
            </a:pPr>
            <a:r>
              <a:t>Command: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ECC71"/>
                </a:solidFill>
                <a:latin typeface="Segoe UI"/>
              </a:defRPr>
            </a:pPr>
            <a:r>
              <a:t>/execute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F39C12"/>
                </a:solidFill>
                <a:latin typeface="Segoe UI"/>
              </a:defRPr>
            </a:pPr>
            <a:r>
              <a:t>Quy trình: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1. Pre-gates check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2. Load plan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3. Thực thi step-by-step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4. Checkpoint mỗi step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5. Auto-chain /validate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2ECC71"/>
                </a:solidFill>
                <a:latin typeface="Segoe UI"/>
              </a:defRPr>
            </a:pPr>
            <a:r>
              <a:t>Output: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Code + tests đã generate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63040"/>
            <a:ext cx="3657600" cy="475488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E74C3C"/>
                </a:solidFill>
                <a:latin typeface="Segoe UI"/>
              </a:defRPr>
            </a:pPr>
            <a:r>
              <a:t>/validate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F39C12"/>
                </a:solidFill>
                <a:latin typeface="Segoe UI"/>
              </a:defRPr>
            </a:pPr>
            <a:r>
              <a:t>Command: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ECC71"/>
                </a:solidFill>
                <a:latin typeface="Segoe UI"/>
              </a:defRPr>
            </a:pPr>
            <a:r>
              <a:t>/validate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F39C12"/>
                </a:solidFill>
                <a:latin typeface="Segoe UI"/>
              </a:defRPr>
            </a:pPr>
            <a:r>
              <a:t>4-Pass Validation: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P1: Specialist patterns (35%)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P2: Quality gates (15%)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P3: Code review (35%)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P4: Feature coherence (15%)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2ECC71"/>
                </a:solidFill>
                <a:latin typeface="Segoe UI"/>
              </a:defRPr>
            </a:pPr>
            <a:r>
              <a:t>≥90% = VALIDATED ✓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74C3C"/>
                </a:solidFill>
                <a:latin typeface="Segoe UI"/>
              </a:defRPr>
            </a:pPr>
            <a:r>
              <a:t>&lt;90% = Fix + chạy lại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88899"/>
                </a:solidFill>
                <a:latin typeface="Segoe UI"/>
              </a:defRPr>
            </a:pPr>
            <a:r>
              <a:t>››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88899"/>
                </a:solidFill>
                <a:latin typeface="Segoe UI"/>
              </a:defRPr>
            </a:pPr>
            <a:r>
              <a:t>››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Segoe UI"/>
              </a:defRPr>
            </a:pPr>
            <a:r>
              <a:t>Checklist &amp; Tips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669280" cy="53035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39C12"/>
                </a:solidFill>
                <a:latin typeface="Segoe UI"/>
              </a:defRPr>
            </a:pPr>
            <a:r>
              <a:t>CHECKLIST TRƯỚC KHI BẮT ĐẦU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[  ] .env có CONFLUENCE_PAT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[  ] .env có GEMINI_API_KEY (optional)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[  ] Biết tên tính năng + module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[  ] Đã export Confluent HTML → docs/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[  ] Đã chụp Figma → screenshot_from_figma/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[  ] Biết prerequisite features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[  ] Biết task type (new/enhance/bugfix)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39C12"/>
                </a:solidFill>
                <a:latin typeface="Segoe UI"/>
              </a:defRPr>
            </a:pPr>
            <a:r>
              <a:t>CHECKLIST SAU MỖI BƯỚC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[  ] Đọc output — đừng skip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[  ] /save để backup progress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[  ] Review decisions trước khi approve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486400" cy="53035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28016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4EC9F0"/>
                </a:solidFill>
                <a:latin typeface="Segoe UI"/>
              </a:defRPr>
            </a:pPr>
            <a:r>
              <a:t>TIPS ĐỂ KẾT QUẢ ĐỒNG NHẤT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1. LUÔN bắt đầu từ Bước 0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 Không skip bước nào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2. Copy prompt template CHÍNH XÁC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 Chỉ thay biến trong [...]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3. Khi review, ghi: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ECC71"/>
                </a:solidFill>
                <a:latin typeface="Segoe UI"/>
              </a:defRPr>
            </a:pPr>
            <a:r>
              <a:t>   'dùng claude và gemini tự phản biện 5 lần'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 Multi-model cross-validate quyết định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4. /save THƯỜNG XUYÊN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 Conversation mất = mất progress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5. Resume sau khi mất context: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ECC71"/>
                </a:solidFill>
                <a:latin typeface="Segoe UI"/>
              </a:defRPr>
            </a:pPr>
            <a:r>
              <a:t>   /recall → đọc checkpoint → chạy lại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Quick Reference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Segoe UI"/>
              </a:defRPr>
            </a:pPr>
            <a:r>
              <a:t>In ra dán lên màn hình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11430000" cy="530352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onsolas"/>
              </a:defRPr>
            </a:pPr>
            <a:r>
              <a:t>  BƯỚC 0   Chuẩn bị: export Confluent HTML → docs/ + chụp Figma → screenshot_from_figma/</a:t>
            </a:r>
            <a:br/>
            <a:r>
              <a:t>            Prompt: "Đọc .html trong docs/, xem screenshot Figma, trích xuất, lưu vào..."</a:t>
            </a:r>
            <a:br/>
            <a:br/>
            <a:r>
              <a:t>  BƯỚC 1   /research --input "documents/research/{feature}/confluent-research.md" --type new --module PTTT</a:t>
            </a:r>
            <a:br/>
            <a:r>
              <a:t>            Output: evidence.md + domain-knowledge.md</a:t>
            </a:r>
            <a:br/>
            <a:br/>
            <a:r>
              <a:t>  BƯỚC 2   /innovate</a:t>
            </a:r>
            <a:br/>
            <a:r>
              <a:t>            Output: innovate-srs-selection.md + innovate-technical-selection.md + design docs</a:t>
            </a:r>
            <a:br/>
            <a:r>
              <a:t>            Tip: Yêu cầu "dùng claude và gemini tự phản biện 5 lần"</a:t>
            </a:r>
            <a:br/>
            <a:br/>
            <a:r>
              <a:t>  BƯỚC 3   /plan</a:t>
            </a:r>
            <a:br/>
            <a:r>
              <a:t>            Output: implementation-plan.md (auto-chain: plan-review, plan-optimize)</a:t>
            </a:r>
            <a:br/>
            <a:br/>
            <a:r>
              <a:t>  BƯỚC 4   /execute</a:t>
            </a:r>
            <a:br/>
            <a:r>
              <a:t>            Output: Generated code (auto-chain: /validate)</a:t>
            </a:r>
            <a:br/>
            <a:br/>
            <a:r>
              <a:t>  BƯỚC 5   /validate</a:t>
            </a:r>
            <a:br/>
            <a:r>
              <a:t>            Output: validation-report.md (≥90% PASS)</a:t>
            </a:r>
            <a:br/>
            <a:br/>
            <a:r>
              <a:t>  BẤT KỲ   /save                          Lưu checkpoint (auto-detect context)</a:t>
            </a:r>
            <a:br/>
            <a:r>
              <a:t>            /save "Ghi chú nhanh"          Lưu nhanh</a:t>
            </a:r>
            <a:br/>
            <a:r>
              <a:t>            /recall                        Xem tất cả memories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